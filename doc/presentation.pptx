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95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94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97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97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5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5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053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6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2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03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1807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8878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34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85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2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8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501444" y="2148649"/>
            <a:ext cx="10176387" cy="1646302"/>
          </a:xfrm>
        </p:spPr>
        <p:txBody>
          <a:bodyPr/>
          <a:lstStyle/>
          <a:p>
            <a:r>
              <a:rPr sz="4800" dirty="0"/>
              <a:t>Weather and Air Quality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7898" y="3886200"/>
            <a:ext cx="7207045" cy="175260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Analyzing the Relationship Between Weather Conditions</a:t>
            </a:r>
          </a:p>
          <a:p>
            <a:r>
              <a:rPr dirty="0"/>
              <a:t>and Air Quality in Major U.S. Cities</a:t>
            </a:r>
          </a:p>
          <a:p>
            <a:endParaRPr dirty="0"/>
          </a:p>
          <a:p>
            <a:r>
              <a:rPr dirty="0"/>
              <a:t>Yi Wang</a:t>
            </a:r>
          </a:p>
          <a:p>
            <a:r>
              <a:rPr dirty="0"/>
              <a:t>DSCI 510 - Fall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85" y="1695192"/>
            <a:ext cx="8028039" cy="346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000" b="1"/>
            </a:pPr>
            <a:r>
              <a:rPr sz="2400" dirty="0"/>
              <a:t>Research Question:</a:t>
            </a:r>
          </a:p>
          <a:p>
            <a:pPr lvl="1">
              <a:spcAft>
                <a:spcPts val="2000"/>
              </a:spcAft>
              <a:defRPr sz="1800"/>
            </a:pPr>
            <a:r>
              <a:rPr sz="2000" dirty="0"/>
              <a:t>Do weather conditions correlate with air quality in major U.S. cities?</a:t>
            </a:r>
          </a:p>
          <a:p>
            <a:pPr>
              <a:spcAft>
                <a:spcPts val="1000"/>
              </a:spcAft>
              <a:defRPr sz="2000" b="1"/>
            </a:pPr>
            <a:r>
              <a:rPr sz="2400" dirty="0"/>
              <a:t>Project Overview: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sz="2000" dirty="0"/>
              <a:t>Analyzed 10 major U.S. cities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sz="2000" dirty="0"/>
              <a:t>Collected weather data: temperature, humidity, wind speed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sz="2000" dirty="0"/>
              <a:t>Compared with Air Quality Index (AQI) measurements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sz="2000" dirty="0"/>
              <a:t>Statistical analysis to find correlations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Sources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717953"/>
              </p:ext>
            </p:extLst>
          </p:nvPr>
        </p:nvGraphicFramePr>
        <p:xfrm>
          <a:off x="813344" y="1930400"/>
          <a:ext cx="846065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7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2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Source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Format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Key Fields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800" dirty="0" err="1"/>
                        <a:t>OpenWeatherMap</a:t>
                      </a:r>
                      <a:r>
                        <a:rPr sz="1800" dirty="0"/>
                        <a:t>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80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800"/>
                        <a:t>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800"/>
                        <a:t>Temperature, Humidity, Wind Speed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800" dirty="0"/>
                        <a:t>EPA Air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800"/>
                        <a:t>CSV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800"/>
                        <a:t>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800" dirty="0"/>
                        <a:t>AQI Value, Date, 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3344" y="4927601"/>
            <a:ext cx="7772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200" i="1"/>
            </a:pPr>
            <a:r>
              <a:rPr sz="2000" dirty="0"/>
              <a:t>Cities analyzed: Los Angeles, New York, Chicago, Houston, Phoenix, Philadelphia, San Antonio, San Diego, Dallas, San Jose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rrelation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04" y="1559397"/>
            <a:ext cx="11927511" cy="31074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5500" y="4514192"/>
            <a:ext cx="9124806" cy="22159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800"/>
              </a:spcAft>
              <a:defRPr sz="1600" b="1"/>
            </a:pPr>
            <a:r>
              <a:rPr sz="2000" dirty="0"/>
              <a:t>Key Finding: Weather conditions show statistically significant correlations </a:t>
            </a:r>
            <a:endParaRPr lang="en-US" sz="2000" dirty="0"/>
          </a:p>
          <a:p>
            <a:pPr>
              <a:spcAft>
                <a:spcPts val="800"/>
              </a:spcAft>
              <a:defRPr sz="1600" b="1"/>
            </a:pPr>
            <a:r>
              <a:rPr sz="2000" dirty="0"/>
              <a:t>with air quality</a:t>
            </a:r>
          </a:p>
          <a:p>
            <a:pPr lvl="1">
              <a:spcAft>
                <a:spcPts val="400"/>
              </a:spcAft>
              <a:defRPr sz="1300"/>
            </a:pPr>
            <a:r>
              <a:rPr sz="2000" dirty="0"/>
              <a:t>Temperature: Positive correlation (r ≈ 0.5) - Higher temp → worse AQI</a:t>
            </a:r>
          </a:p>
          <a:p>
            <a:pPr lvl="1">
              <a:spcAft>
                <a:spcPts val="400"/>
              </a:spcAft>
              <a:defRPr sz="1300"/>
            </a:pPr>
            <a:r>
              <a:rPr sz="2000" dirty="0"/>
              <a:t>Humidity: </a:t>
            </a:r>
            <a:r>
              <a:rPr lang="en-US" sz="2000" dirty="0"/>
              <a:t>Negative correlation (r ≈ -0.6)</a:t>
            </a:r>
            <a:r>
              <a:rPr sz="2000" dirty="0"/>
              <a:t>- </a:t>
            </a:r>
            <a:r>
              <a:rPr lang="en-US" sz="2000" dirty="0"/>
              <a:t>Higher humidity → better AQI </a:t>
            </a:r>
            <a:endParaRPr sz="2000" dirty="0"/>
          </a:p>
          <a:p>
            <a:pPr lvl="1">
              <a:spcAft>
                <a:spcPts val="400"/>
              </a:spcAft>
              <a:defRPr sz="1300"/>
            </a:pPr>
            <a:r>
              <a:rPr sz="2000" dirty="0"/>
              <a:t>Wind Speed: Negative correlation (r ≈ -0.</a:t>
            </a:r>
            <a:r>
              <a:rPr lang="en-US" sz="2000" dirty="0"/>
              <a:t>8</a:t>
            </a:r>
            <a:r>
              <a:rPr sz="2000" dirty="0"/>
              <a:t>) - Higher wind → better AQI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99B6C8-48D5-8471-4E73-F0C6221B3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20" y="359290"/>
            <a:ext cx="9036938" cy="869742"/>
          </a:xfrm>
        </p:spPr>
        <p:txBody>
          <a:bodyPr>
            <a:normAutofit/>
          </a:bodyPr>
          <a:lstStyle/>
          <a:p>
            <a:pPr>
              <a:defRPr sz="3200" b="1"/>
            </a:pPr>
            <a:r>
              <a:rPr lang="en-US" dirty="0"/>
              <a:t>Results: Correlation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1421296"/>
            <a:ext cx="7580671" cy="45080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74195" y="1897811"/>
            <a:ext cx="4817805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lvl="1">
              <a:spcAft>
                <a:spcPts val="600"/>
              </a:spcAft>
              <a:defRPr sz="1400"/>
            </a:pPr>
            <a:r>
              <a:rPr sz="2000" dirty="0"/>
              <a:t>Best Air Quality: </a:t>
            </a:r>
            <a:endParaRPr lang="en-US" sz="2000" dirty="0"/>
          </a:p>
          <a:p>
            <a:pPr lvl="1">
              <a:spcAft>
                <a:spcPts val="600"/>
              </a:spcAft>
              <a:defRPr sz="1400"/>
            </a:pPr>
            <a:r>
              <a:rPr sz="2000" dirty="0"/>
              <a:t>San Diego, Chicago, San Jose (AQI: 35-40) - Coastal cities with higher wind</a:t>
            </a:r>
          </a:p>
          <a:p>
            <a:pPr lvl="1">
              <a:spcAft>
                <a:spcPts val="600"/>
              </a:spcAft>
              <a:defRPr sz="1400"/>
            </a:pPr>
            <a:r>
              <a:rPr sz="2000" dirty="0"/>
              <a:t>Worst Air Quality: Los Angeles, Phoenix (AQI: 62-65) - Inland cities with higher temperatures</a:t>
            </a:r>
          </a:p>
          <a:p>
            <a:pPr lvl="1">
              <a:spcAft>
                <a:spcPts val="600"/>
              </a:spcAft>
              <a:defRPr sz="1400"/>
            </a:pPr>
            <a:r>
              <a:rPr sz="2000" dirty="0"/>
              <a:t>Most cities fall in 'Good' (0-50) or 'Moderate' (51-100) categories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392E03-C26F-C058-D429-AA03D9888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20" y="359290"/>
            <a:ext cx="9036938" cy="869742"/>
          </a:xfrm>
        </p:spPr>
        <p:txBody>
          <a:bodyPr>
            <a:normAutofit/>
          </a:bodyPr>
          <a:lstStyle/>
          <a:p>
            <a:pPr>
              <a:defRPr sz="3200" b="1"/>
            </a:pPr>
            <a:r>
              <a:rPr lang="en-US" dirty="0"/>
              <a:t>Results: Air Quality by 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eathe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36" y="1421744"/>
            <a:ext cx="7506408" cy="49727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67483" y="1421743"/>
            <a:ext cx="4292355" cy="508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500"/>
              </a:spcAft>
              <a:defRPr sz="1300"/>
            </a:pPr>
            <a:r>
              <a:rPr sz="2400" dirty="0"/>
              <a:t>Wind Speed is Most Important: Strongest predictor of air quality - higher wind disperses pollutants</a:t>
            </a:r>
          </a:p>
          <a:p>
            <a:pPr lvl="1">
              <a:spcAft>
                <a:spcPts val="500"/>
              </a:spcAft>
              <a:defRPr sz="1300"/>
            </a:pPr>
            <a:r>
              <a:rPr sz="2400" dirty="0"/>
              <a:t>Temperature Effect: Warmer days tend to have worse air quality</a:t>
            </a:r>
            <a:endParaRPr lang="en-US" sz="2400" dirty="0"/>
          </a:p>
          <a:p>
            <a:pPr lvl="1">
              <a:spcAft>
                <a:spcPts val="500"/>
              </a:spcAft>
              <a:defRPr sz="1300"/>
            </a:pPr>
            <a:r>
              <a:rPr lang="en-US" sz="2400" dirty="0"/>
              <a:t>Humidity: Low humidity worse air quality</a:t>
            </a:r>
            <a:endParaRPr sz="2400" dirty="0"/>
          </a:p>
          <a:p>
            <a:pPr lvl="1">
              <a:spcAft>
                <a:spcPts val="500"/>
              </a:spcAft>
              <a:defRPr sz="1300"/>
            </a:pPr>
            <a:r>
              <a:rPr sz="2400" dirty="0"/>
              <a:t>Geographic Factors: Cities surrounded by mountains (LA) trap pollution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D6F048-88FC-7FA5-7A1F-84609C162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20" y="359290"/>
            <a:ext cx="9036938" cy="869742"/>
          </a:xfrm>
        </p:spPr>
        <p:txBody>
          <a:bodyPr>
            <a:normAutofit/>
          </a:bodyPr>
          <a:lstStyle/>
          <a:p>
            <a:pPr>
              <a:defRPr sz="3200" b="1"/>
            </a:pPr>
            <a:r>
              <a:rPr lang="en-US" dirty="0"/>
              <a:t>Results: Key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3798"/>
            <a:ext cx="10972800" cy="1143000"/>
          </a:xfrm>
        </p:spPr>
        <p:txBody>
          <a:bodyPr/>
          <a:lstStyle/>
          <a:p>
            <a:r>
              <a:rPr b="1" dirty="0"/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092" y="947480"/>
            <a:ext cx="8749768" cy="54296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500"/>
              </a:spcAft>
              <a:defRPr sz="2000" b="1"/>
            </a:pPr>
            <a:r>
              <a:rPr sz="3200" dirty="0"/>
              <a:t>Most Difficult Part:</a:t>
            </a:r>
          </a:p>
          <a:p>
            <a:pPr lvl="1">
              <a:spcAft>
                <a:spcPts val="2000"/>
              </a:spcAft>
              <a:defRPr sz="1800"/>
            </a:pPr>
            <a:r>
              <a:rPr sz="2400" dirty="0"/>
              <a:t>Integrating data from multiple sources</a:t>
            </a:r>
          </a:p>
          <a:p>
            <a:pPr>
              <a:spcAft>
                <a:spcPts val="1000"/>
              </a:spcAft>
              <a:defRPr sz="1800" b="1"/>
            </a:pPr>
            <a:r>
              <a:rPr sz="3200" dirty="0"/>
              <a:t>Specific Challenges:</a:t>
            </a:r>
          </a:p>
          <a:p>
            <a:pPr lvl="1">
              <a:spcAft>
                <a:spcPts val="1000"/>
              </a:spcAft>
              <a:defRPr sz="1500"/>
            </a:pPr>
            <a:r>
              <a:rPr sz="2400" dirty="0"/>
              <a:t>Learning to handle JSON data</a:t>
            </a:r>
          </a:p>
          <a:p>
            <a:pPr lvl="1">
              <a:spcAft>
                <a:spcPts val="1000"/>
              </a:spcAft>
              <a:defRPr sz="1500"/>
            </a:pPr>
            <a:r>
              <a:rPr sz="2400" dirty="0"/>
              <a:t>Matching city names between different data sources</a:t>
            </a:r>
          </a:p>
          <a:p>
            <a:pPr lvl="1">
              <a:spcAft>
                <a:spcPts val="1000"/>
              </a:spcAft>
              <a:defRPr sz="1500"/>
            </a:pPr>
            <a:r>
              <a:rPr sz="2400" dirty="0"/>
              <a:t>Understanding when correlations are meaningful vs. coincidental</a:t>
            </a:r>
          </a:p>
          <a:p>
            <a:pPr lvl="1">
              <a:spcAft>
                <a:spcPts val="1000"/>
              </a:spcAft>
              <a:defRPr sz="1500"/>
            </a:pPr>
            <a:r>
              <a:rPr sz="2400" dirty="0"/>
              <a:t>Creating effective visualizations to communicate findings</a:t>
            </a:r>
          </a:p>
          <a:p>
            <a:br>
              <a:rPr dirty="0"/>
            </a:br>
            <a:r>
              <a:rPr sz="3200" b="1" dirty="0"/>
              <a:t>Key Learning</a:t>
            </a:r>
            <a:r>
              <a:rPr sz="3200" dirty="0"/>
              <a:t>:</a:t>
            </a:r>
            <a:r>
              <a:rPr dirty="0"/>
              <a:t> </a:t>
            </a:r>
            <a:endParaRPr lang="en-US" dirty="0"/>
          </a:p>
          <a:p>
            <a:r>
              <a:rPr sz="2400" dirty="0"/>
              <a:t>Breaking complex problems into smaller, manageable steps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181" y="452283"/>
            <a:ext cx="8596668" cy="1320800"/>
          </a:xfrm>
        </p:spPr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283" y="1136480"/>
            <a:ext cx="9016182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/>
          </a:p>
          <a:p>
            <a:pPr>
              <a:spcAft>
                <a:spcPts val="2000"/>
              </a:spcAft>
              <a:defRPr sz="1800" b="1"/>
            </a:pPr>
            <a:r>
              <a:rPr sz="2800" dirty="0"/>
              <a:t>Weather conditions significantly affect air quality in U.S. cities</a:t>
            </a:r>
          </a:p>
          <a:p>
            <a:pPr>
              <a:spcAft>
                <a:spcPts val="1000"/>
              </a:spcAft>
              <a:defRPr sz="1700" b="1"/>
            </a:pPr>
            <a:r>
              <a:rPr sz="2800" dirty="0"/>
              <a:t>Key Takeaways:</a:t>
            </a:r>
          </a:p>
          <a:p>
            <a:pPr lvl="1">
              <a:spcAft>
                <a:spcPts val="1000"/>
              </a:spcAft>
              <a:defRPr sz="1500"/>
            </a:pPr>
            <a:r>
              <a:rPr sz="2800" dirty="0"/>
              <a:t>Wind speed is the strongest predictor of air quality</a:t>
            </a:r>
          </a:p>
          <a:p>
            <a:pPr lvl="1">
              <a:spcAft>
                <a:spcPts val="1000"/>
              </a:spcAft>
              <a:defRPr sz="1500"/>
            </a:pPr>
            <a:r>
              <a:rPr sz="2800" dirty="0"/>
              <a:t>Temperature </a:t>
            </a:r>
            <a:r>
              <a:rPr lang="en-US" altLang="zh-CN" sz="2800" dirty="0"/>
              <a:t>and humidity </a:t>
            </a:r>
            <a:r>
              <a:rPr sz="2800" dirty="0"/>
              <a:t>also play important roles</a:t>
            </a:r>
          </a:p>
          <a:p>
            <a:pPr lvl="1">
              <a:spcAft>
                <a:spcPts val="1000"/>
              </a:spcAft>
              <a:defRPr sz="1500"/>
            </a:pPr>
            <a:r>
              <a:rPr sz="2800" dirty="0"/>
              <a:t>Geographic location matters (coastal vs. inland)</a:t>
            </a:r>
          </a:p>
          <a:p>
            <a:pPr lvl="1">
              <a:spcAft>
                <a:spcPts val="1000"/>
              </a:spcAft>
              <a:defRPr sz="1500"/>
            </a:pPr>
            <a:r>
              <a:rPr sz="2800" dirty="0"/>
              <a:t>These patterns can help predict air quality from weather forecasts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C0B432-0A16-85FC-9418-71D2A6149E3F}"/>
              </a:ext>
            </a:extLst>
          </p:cNvPr>
          <p:cNvSpPr txBox="1"/>
          <p:nvPr/>
        </p:nvSpPr>
        <p:spPr>
          <a:xfrm>
            <a:off x="2497393" y="30768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Thank you! Questions?</a:t>
            </a:r>
          </a:p>
        </p:txBody>
      </p:sp>
    </p:spTree>
    <p:extLst>
      <p:ext uri="{BB962C8B-B14F-4D97-AF65-F5344CB8AC3E}">
        <p14:creationId xmlns:p14="http://schemas.microsoft.com/office/powerpoint/2010/main" val="18869310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423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Weather and Air Quality Analysis</vt:lpstr>
      <vt:lpstr>Introduction</vt:lpstr>
      <vt:lpstr>Data Sources</vt:lpstr>
      <vt:lpstr>Results: Correlation Analysis</vt:lpstr>
      <vt:lpstr>Results: Air Quality by City</vt:lpstr>
      <vt:lpstr>Results: Key Insights</vt:lpstr>
      <vt:lpstr>Challenges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 Wang</cp:lastModifiedBy>
  <cp:revision>3</cp:revision>
  <dcterms:created xsi:type="dcterms:W3CDTF">2013-01-27T09:14:16Z</dcterms:created>
  <dcterms:modified xsi:type="dcterms:W3CDTF">2025-11-25T05:48:33Z</dcterms:modified>
  <cp:category/>
</cp:coreProperties>
</file>